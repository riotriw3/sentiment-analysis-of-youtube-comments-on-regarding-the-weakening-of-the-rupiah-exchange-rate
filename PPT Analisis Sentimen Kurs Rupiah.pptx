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arlow Condensed Bold" charset="1" panose="00000806000000000000"/>
      <p:regular r:id="rId19"/>
    </p:embeddedFont>
    <p:embeddedFont>
      <p:font typeface="Anantason Condensed Bold" charset="1" panose="00000000000000000000"/>
      <p:regular r:id="rId20"/>
    </p:embeddedFont>
    <p:embeddedFont>
      <p:font typeface="Inter" charset="1" panose="020B0502030000000004"/>
      <p:regular r:id="rId21"/>
    </p:embeddedFont>
    <p:embeddedFont>
      <p:font typeface="Inter Bold" charset="1" panose="020B080203000000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83430" y="-3037040"/>
            <a:ext cx="14235888" cy="10896925"/>
          </a:xfrm>
          <a:custGeom>
            <a:avLst/>
            <a:gdLst/>
            <a:ahLst/>
            <a:cxnLst/>
            <a:rect r="r" b="b" t="t" l="l"/>
            <a:pathLst>
              <a:path h="10896925" w="14235888">
                <a:moveTo>
                  <a:pt x="0" y="0"/>
                </a:moveTo>
                <a:lnTo>
                  <a:pt x="14235888" y="0"/>
                </a:lnTo>
                <a:lnTo>
                  <a:pt x="14235888" y="10896925"/>
                </a:lnTo>
                <a:lnTo>
                  <a:pt x="0" y="10896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16756">
            <a:off x="13268680" y="8375358"/>
            <a:ext cx="5363774" cy="4534827"/>
          </a:xfrm>
          <a:custGeom>
            <a:avLst/>
            <a:gdLst/>
            <a:ahLst/>
            <a:cxnLst/>
            <a:rect r="r" b="b" t="t" l="l"/>
            <a:pathLst>
              <a:path h="4534827" w="5363774">
                <a:moveTo>
                  <a:pt x="0" y="0"/>
                </a:moveTo>
                <a:lnTo>
                  <a:pt x="5363774" y="0"/>
                </a:lnTo>
                <a:lnTo>
                  <a:pt x="5363774" y="4534827"/>
                </a:lnTo>
                <a:lnTo>
                  <a:pt x="0" y="4534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322145" y="1505402"/>
            <a:ext cx="2097217" cy="4606399"/>
            <a:chOff x="0" y="0"/>
            <a:chExt cx="2796289" cy="61418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96289" cy="4483846"/>
            </a:xfrm>
            <a:custGeom>
              <a:avLst/>
              <a:gdLst/>
              <a:ahLst/>
              <a:cxnLst/>
              <a:rect r="r" b="b" t="t" l="l"/>
              <a:pathLst>
                <a:path h="4483846" w="2796289">
                  <a:moveTo>
                    <a:pt x="0" y="0"/>
                  </a:moveTo>
                  <a:lnTo>
                    <a:pt x="2796289" y="0"/>
                  </a:lnTo>
                  <a:lnTo>
                    <a:pt x="2796289" y="4483846"/>
                  </a:lnTo>
                  <a:lnTo>
                    <a:pt x="0" y="4483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1658020"/>
              <a:ext cx="2796289" cy="4483846"/>
            </a:xfrm>
            <a:custGeom>
              <a:avLst/>
              <a:gdLst/>
              <a:ahLst/>
              <a:cxnLst/>
              <a:rect r="r" b="b" t="t" l="l"/>
              <a:pathLst>
                <a:path h="4483846" w="2796289">
                  <a:moveTo>
                    <a:pt x="0" y="0"/>
                  </a:moveTo>
                  <a:lnTo>
                    <a:pt x="2796289" y="0"/>
                  </a:lnTo>
                  <a:lnTo>
                    <a:pt x="2796289" y="4483845"/>
                  </a:lnTo>
                  <a:lnTo>
                    <a:pt x="0" y="4483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3019591"/>
            <a:ext cx="16230600" cy="5123744"/>
            <a:chOff x="0" y="0"/>
            <a:chExt cx="21640800" cy="683165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45106"/>
              <a:ext cx="21640800" cy="4870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249"/>
                </a:lnSpc>
              </a:pPr>
              <a:r>
                <a:rPr lang="en-US" b="true" sz="12499" spc="-374">
                  <a:solidFill>
                    <a:srgbClr val="007043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 MELEMAHNYA NILAI TUKAR RUPIAH TERHADAP DOLAR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123825"/>
              <a:ext cx="21640800" cy="1418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959"/>
                </a:lnSpc>
                <a:spcBef>
                  <a:spcPct val="0"/>
                </a:spcBef>
              </a:pPr>
              <a:r>
                <a:rPr lang="en-US" b="true" sz="6399">
                  <a:solidFill>
                    <a:srgbClr val="007043"/>
                  </a:solidFill>
                  <a:latin typeface="Anantason Condensed Bold"/>
                  <a:ea typeface="Anantason Condensed Bold"/>
                  <a:cs typeface="Anantason Condensed Bold"/>
                  <a:sym typeface="Anantason Condensed Bold"/>
                </a:rPr>
                <a:t>ANALISIS SENTIMEN PADA YOUTUBE TERKAIT 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413280"/>
              <a:ext cx="21640800" cy="1418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959"/>
                </a:lnSpc>
                <a:spcBef>
                  <a:spcPct val="0"/>
                </a:spcBef>
              </a:pPr>
              <a:r>
                <a:rPr lang="en-US" b="true" sz="6399">
                  <a:solidFill>
                    <a:srgbClr val="007043"/>
                  </a:solidFill>
                  <a:latin typeface="Anantason Condensed Bold"/>
                  <a:ea typeface="Anantason Condensed Bold"/>
                  <a:cs typeface="Anantason Condensed Bold"/>
                  <a:sym typeface="Anantason Condensed Bold"/>
                </a:rPr>
                <a:t>MENGGUNAKAN ALGORITMA NAIVE BAYES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89802" y="-158062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04142" y="4162606"/>
            <a:ext cx="13679715" cy="5095694"/>
          </a:xfrm>
          <a:custGeom>
            <a:avLst/>
            <a:gdLst/>
            <a:ahLst/>
            <a:cxnLst/>
            <a:rect r="r" b="b" t="t" l="l"/>
            <a:pathLst>
              <a:path h="5095694" w="13679715">
                <a:moveTo>
                  <a:pt x="0" y="0"/>
                </a:moveTo>
                <a:lnTo>
                  <a:pt x="13679716" y="0"/>
                </a:lnTo>
                <a:lnTo>
                  <a:pt x="13679716" y="5095694"/>
                </a:lnTo>
                <a:lnTo>
                  <a:pt x="0" y="5095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66800"/>
            <a:ext cx="7702587" cy="119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7"/>
              </a:lnSpc>
            </a:pPr>
            <a:r>
              <a:rPr lang="en-US" b="true" sz="8110" spc="-243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SCRAPING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8414" y="2385208"/>
            <a:ext cx="1620088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Kami melakukan scraping data dari 3 video </a:t>
            </a:r>
            <a:r>
              <a:rPr lang="en-US" b="true" sz="3000">
                <a:solidFill>
                  <a:srgbClr val="007043"/>
                </a:solidFill>
                <a:latin typeface="Inter Bold"/>
                <a:ea typeface="Inter Bold"/>
                <a:cs typeface="Inter Bold"/>
                <a:sym typeface="Inter Bold"/>
              </a:rPr>
              <a:t>youtube</a:t>
            </a:r>
            <a:r>
              <a:rPr lang="en-US" sz="30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yang dihasilkan dari </a:t>
            </a:r>
            <a:r>
              <a:rPr lang="en-US" b="true" sz="3000">
                <a:solidFill>
                  <a:srgbClr val="007043"/>
                </a:solidFill>
                <a:latin typeface="Inter Bold"/>
                <a:ea typeface="Inter Bold"/>
                <a:cs typeface="Inter Bold"/>
                <a:sym typeface="Inter Bold"/>
              </a:rPr>
              <a:t>keyword search bar</a:t>
            </a:r>
            <a:r>
              <a:rPr lang="en-US" sz="30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. Dari hasil scraping data, kami mendapatkan sebanyak </a:t>
            </a:r>
            <a:r>
              <a:rPr lang="en-US" b="true" sz="3000">
                <a:solidFill>
                  <a:srgbClr val="007043"/>
                </a:solidFill>
                <a:latin typeface="Inter Bold"/>
                <a:ea typeface="Inter Bold"/>
                <a:cs typeface="Inter Bold"/>
                <a:sym typeface="Inter Bold"/>
              </a:rPr>
              <a:t>1.128</a:t>
            </a:r>
            <a:r>
              <a:rPr lang="en-US" sz="30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komentar.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568817">
            <a:off x="15203707" y="-2310350"/>
            <a:ext cx="4873342" cy="4991318"/>
          </a:xfrm>
          <a:custGeom>
            <a:avLst/>
            <a:gdLst/>
            <a:ahLst/>
            <a:cxnLst/>
            <a:rect r="r" b="b" t="t" l="l"/>
            <a:pathLst>
              <a:path h="4991318" w="4873342">
                <a:moveTo>
                  <a:pt x="0" y="0"/>
                </a:moveTo>
                <a:lnTo>
                  <a:pt x="4873342" y="0"/>
                </a:lnTo>
                <a:lnTo>
                  <a:pt x="4873342" y="4991318"/>
                </a:lnTo>
                <a:lnTo>
                  <a:pt x="0" y="4991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59305"/>
            <a:ext cx="1882092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  <a:spcBef>
                <a:spcPct val="0"/>
              </a:spcBef>
            </a:pPr>
            <a:r>
              <a:rPr lang="en-US" b="true" sz="7800">
                <a:solidFill>
                  <a:srgbClr val="007043">
                    <a:alpha val="19608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01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54565" y="5288548"/>
            <a:ext cx="7443626" cy="4013856"/>
          </a:xfrm>
          <a:custGeom>
            <a:avLst/>
            <a:gdLst/>
            <a:ahLst/>
            <a:cxnLst/>
            <a:rect r="r" b="b" t="t" l="l"/>
            <a:pathLst>
              <a:path h="4013856" w="7443626">
                <a:moveTo>
                  <a:pt x="0" y="0"/>
                </a:moveTo>
                <a:lnTo>
                  <a:pt x="7443626" y="0"/>
                </a:lnTo>
                <a:lnTo>
                  <a:pt x="7443626" y="4013857"/>
                </a:lnTo>
                <a:lnTo>
                  <a:pt x="0" y="40138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832" t="-82399" r="-90125" b="-302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29743" y="5064393"/>
            <a:ext cx="3715012" cy="3940025"/>
          </a:xfrm>
          <a:custGeom>
            <a:avLst/>
            <a:gdLst/>
            <a:ahLst/>
            <a:cxnLst/>
            <a:rect r="r" b="b" t="t" l="l"/>
            <a:pathLst>
              <a:path h="3940025" w="3715012">
                <a:moveTo>
                  <a:pt x="0" y="0"/>
                </a:moveTo>
                <a:lnTo>
                  <a:pt x="3715012" y="0"/>
                </a:lnTo>
                <a:lnTo>
                  <a:pt x="3715012" y="3940025"/>
                </a:lnTo>
                <a:lnTo>
                  <a:pt x="0" y="3940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7582" t="-82798" r="-103171" b="-5085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83703" y="2059305"/>
            <a:ext cx="1882092" cy="13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  <a:spcBef>
                <a:spcPct val="0"/>
              </a:spcBef>
            </a:pPr>
            <a:r>
              <a:rPr lang="en-US" b="true" sz="7800">
                <a:solidFill>
                  <a:srgbClr val="007043">
                    <a:alpha val="19608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565" y="1066800"/>
            <a:ext cx="13559808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b="true" sz="7800" spc="-234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PREPOCESSING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66324" y="2505710"/>
            <a:ext cx="45846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DATA CLEANING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565" y="3256548"/>
            <a:ext cx="7303330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Kami membersihkan teks dari URL, tag HTML, emoji, angka, dan simbol, kemudian menyimpannya di kolom 'cleaning'. Hal ini menghasilkan 1.113 baris data.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57470" y="2505710"/>
            <a:ext cx="458467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CASE FOLDING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83703" y="3328035"/>
            <a:ext cx="7975597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Kami mengubah teks menjadi huruf kecil, menghapus spasi tambahan, dan mengganti nilai tertentu untuk memastikan konsistensi.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47750"/>
            <a:ext cx="18288000" cy="0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3681604" y="1028700"/>
            <a:ext cx="0" cy="1518312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640701" y="1028700"/>
            <a:ext cx="0" cy="1518312"/>
          </a:xfrm>
          <a:prstGeom prst="line">
            <a:avLst/>
          </a:prstGeom>
          <a:ln cap="flat" w="952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2547012"/>
            <a:ext cx="18288000" cy="0"/>
          </a:xfrm>
          <a:prstGeom prst="line">
            <a:avLst/>
          </a:prstGeom>
          <a:ln cap="flat" w="9525">
            <a:solidFill>
              <a:srgbClr val="99989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5331155" y="751705"/>
            <a:ext cx="1287686" cy="2064803"/>
          </a:xfrm>
          <a:custGeom>
            <a:avLst/>
            <a:gdLst/>
            <a:ahLst/>
            <a:cxnLst/>
            <a:rect r="r" b="b" t="t" l="l"/>
            <a:pathLst>
              <a:path h="2064803" w="1287686">
                <a:moveTo>
                  <a:pt x="0" y="0"/>
                </a:moveTo>
                <a:lnTo>
                  <a:pt x="1287685" y="0"/>
                </a:lnTo>
                <a:lnTo>
                  <a:pt x="1287685" y="2064803"/>
                </a:lnTo>
                <a:lnTo>
                  <a:pt x="0" y="2064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45543" y="5320542"/>
            <a:ext cx="4176921" cy="4656671"/>
          </a:xfrm>
          <a:custGeom>
            <a:avLst/>
            <a:gdLst/>
            <a:ahLst/>
            <a:cxnLst/>
            <a:rect r="r" b="b" t="t" l="l"/>
            <a:pathLst>
              <a:path h="4656671" w="4176921">
                <a:moveTo>
                  <a:pt x="0" y="0"/>
                </a:moveTo>
                <a:lnTo>
                  <a:pt x="4176921" y="0"/>
                </a:lnTo>
                <a:lnTo>
                  <a:pt x="4176921" y="4656671"/>
                </a:lnTo>
                <a:lnTo>
                  <a:pt x="0" y="46566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725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83045"/>
            <a:ext cx="990358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b="true" sz="7800" spc="-234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PREPOCESSING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07756" y="2969959"/>
            <a:ext cx="3305262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b="true" sz="3200" spc="-96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SLANG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87763" y="2970716"/>
            <a:ext cx="3305262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</a:pPr>
            <a:r>
              <a:rPr lang="en-US" b="true" sz="3200" spc="-96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TOKENISASI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77161"/>
            <a:ext cx="7792756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Kami memeriksa kata yang termasuk slang/singkatan dan memberi makna.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06" y="3579914"/>
            <a:ext cx="7650594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Kami membagi teks menjadi unit-unit yang lebih kecil.  Bertujuan untuk memudahkan proses pengolahan dan analisis teks.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627975"/>
            <a:ext cx="1438711" cy="10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7"/>
              </a:lnSpc>
              <a:spcBef>
                <a:spcPct val="0"/>
              </a:spcBef>
            </a:pPr>
            <a:r>
              <a:rPr lang="en-US" b="true" sz="5962">
                <a:solidFill>
                  <a:srgbClr val="007043">
                    <a:alpha val="19608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06" y="2627975"/>
            <a:ext cx="1438711" cy="10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7"/>
              </a:lnSpc>
              <a:spcBef>
                <a:spcPct val="0"/>
              </a:spcBef>
            </a:pPr>
            <a:r>
              <a:rPr lang="en-US" b="true" sz="5962">
                <a:solidFill>
                  <a:srgbClr val="007043">
                    <a:alpha val="19608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04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507397" y="5333429"/>
            <a:ext cx="4416093" cy="4656671"/>
          </a:xfrm>
          <a:custGeom>
            <a:avLst/>
            <a:gdLst/>
            <a:ahLst/>
            <a:cxnLst/>
            <a:rect r="r" b="b" t="t" l="l"/>
            <a:pathLst>
              <a:path h="4656671" w="4416093">
                <a:moveTo>
                  <a:pt x="0" y="0"/>
                </a:moveTo>
                <a:lnTo>
                  <a:pt x="4416093" y="0"/>
                </a:lnTo>
                <a:lnTo>
                  <a:pt x="4416093" y="4656672"/>
                </a:lnTo>
                <a:lnTo>
                  <a:pt x="0" y="4656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6475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9525" y="-598832"/>
            <a:ext cx="7442511" cy="8545681"/>
          </a:xfrm>
          <a:custGeom>
            <a:avLst/>
            <a:gdLst/>
            <a:ahLst/>
            <a:cxnLst/>
            <a:rect r="r" b="b" t="t" l="l"/>
            <a:pathLst>
              <a:path h="8545681" w="7442511">
                <a:moveTo>
                  <a:pt x="0" y="0"/>
                </a:moveTo>
                <a:lnTo>
                  <a:pt x="7442511" y="0"/>
                </a:lnTo>
                <a:lnTo>
                  <a:pt x="7442511" y="8545681"/>
                </a:lnTo>
                <a:lnTo>
                  <a:pt x="0" y="85456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787572">
            <a:off x="14699960" y="7643656"/>
            <a:ext cx="6397120" cy="5792301"/>
          </a:xfrm>
          <a:custGeom>
            <a:avLst/>
            <a:gdLst/>
            <a:ahLst/>
            <a:cxnLst/>
            <a:rect r="r" b="b" t="t" l="l"/>
            <a:pathLst>
              <a:path h="5792301" w="6397120">
                <a:moveTo>
                  <a:pt x="6397120" y="0"/>
                </a:moveTo>
                <a:lnTo>
                  <a:pt x="0" y="0"/>
                </a:lnTo>
                <a:lnTo>
                  <a:pt x="0" y="5792301"/>
                </a:lnTo>
                <a:lnTo>
                  <a:pt x="6397120" y="5792301"/>
                </a:lnTo>
                <a:lnTo>
                  <a:pt x="639712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13011" y="5401017"/>
            <a:ext cx="3963829" cy="4605074"/>
          </a:xfrm>
          <a:custGeom>
            <a:avLst/>
            <a:gdLst/>
            <a:ahLst/>
            <a:cxnLst/>
            <a:rect r="r" b="b" t="t" l="l"/>
            <a:pathLst>
              <a:path h="4605074" w="3963829">
                <a:moveTo>
                  <a:pt x="0" y="0"/>
                </a:moveTo>
                <a:lnTo>
                  <a:pt x="3963829" y="0"/>
                </a:lnTo>
                <a:lnTo>
                  <a:pt x="3963829" y="4605074"/>
                </a:lnTo>
                <a:lnTo>
                  <a:pt x="0" y="46050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9794" t="0" r="0" b="-10195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8055" y="5818188"/>
            <a:ext cx="3979689" cy="4187903"/>
          </a:xfrm>
          <a:custGeom>
            <a:avLst/>
            <a:gdLst/>
            <a:ahLst/>
            <a:cxnLst/>
            <a:rect r="r" b="b" t="t" l="l"/>
            <a:pathLst>
              <a:path h="4187903" w="3979689">
                <a:moveTo>
                  <a:pt x="0" y="0"/>
                </a:moveTo>
                <a:lnTo>
                  <a:pt x="3979690" y="0"/>
                </a:lnTo>
                <a:lnTo>
                  <a:pt x="3979690" y="4187903"/>
                </a:lnTo>
                <a:lnTo>
                  <a:pt x="0" y="4187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92027" b="-10407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94183" y="2445251"/>
            <a:ext cx="513813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STOPWORDS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50858"/>
            <a:ext cx="7658669" cy="247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Menghapus kata-kata yang sering muncul dan biasanya  tidak memberikan makna signifikan dalam analisis teks, dengan menggunakan stopwords standar dari NLTK dan tambahan dari URL eksternal.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46331" y="2367122"/>
            <a:ext cx="363318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STEMMING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128987"/>
            <a:ext cx="8367541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Kami melakukan stemming pada teks untuk mengubah kata menjadi bentuk dasarnya, mengurangi variasi kata dengan makna yang sama.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175534"/>
            <a:ext cx="1438711" cy="10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7"/>
              </a:lnSpc>
              <a:spcBef>
                <a:spcPct val="0"/>
              </a:spcBef>
            </a:pPr>
            <a:r>
              <a:rPr lang="en-US" b="true" sz="5962">
                <a:solidFill>
                  <a:srgbClr val="007043">
                    <a:alpha val="19608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097405"/>
            <a:ext cx="1438711" cy="10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47"/>
              </a:lnSpc>
              <a:spcBef>
                <a:spcPct val="0"/>
              </a:spcBef>
            </a:pPr>
            <a:r>
              <a:rPr lang="en-US" b="true" sz="5962">
                <a:solidFill>
                  <a:srgbClr val="007043">
                    <a:alpha val="19608"/>
                  </a:srgbClr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06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4565" y="1066800"/>
            <a:ext cx="8662336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b="true" sz="7800" spc="-234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PREPOCESSING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2750" y="-1219935"/>
            <a:ext cx="6421610" cy="6589339"/>
          </a:xfrm>
          <a:custGeom>
            <a:avLst/>
            <a:gdLst/>
            <a:ahLst/>
            <a:cxnLst/>
            <a:rect r="r" b="b" t="t" l="l"/>
            <a:pathLst>
              <a:path h="6589339" w="6421610">
                <a:moveTo>
                  <a:pt x="0" y="0"/>
                </a:moveTo>
                <a:lnTo>
                  <a:pt x="6421610" y="0"/>
                </a:lnTo>
                <a:lnTo>
                  <a:pt x="6421610" y="6589339"/>
                </a:lnTo>
                <a:lnTo>
                  <a:pt x="0" y="6589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071524">
            <a:off x="-3391960" y="7671691"/>
            <a:ext cx="6421610" cy="6589339"/>
          </a:xfrm>
          <a:custGeom>
            <a:avLst/>
            <a:gdLst/>
            <a:ahLst/>
            <a:cxnLst/>
            <a:rect r="r" b="b" t="t" l="l"/>
            <a:pathLst>
              <a:path h="6589339" w="6421610">
                <a:moveTo>
                  <a:pt x="0" y="0"/>
                </a:moveTo>
                <a:lnTo>
                  <a:pt x="6421610" y="0"/>
                </a:lnTo>
                <a:lnTo>
                  <a:pt x="6421610" y="6589339"/>
                </a:lnTo>
                <a:lnTo>
                  <a:pt x="0" y="6589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636943" y="1261905"/>
            <a:ext cx="1911612" cy="7763190"/>
          </a:xfrm>
          <a:custGeom>
            <a:avLst/>
            <a:gdLst/>
            <a:ahLst/>
            <a:cxnLst/>
            <a:rect r="r" b="b" t="t" l="l"/>
            <a:pathLst>
              <a:path h="7763190" w="1911612">
                <a:moveTo>
                  <a:pt x="0" y="0"/>
                </a:moveTo>
                <a:lnTo>
                  <a:pt x="1911613" y="0"/>
                </a:lnTo>
                <a:lnTo>
                  <a:pt x="1911613" y="7763190"/>
                </a:lnTo>
                <a:lnTo>
                  <a:pt x="0" y="77631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291652"/>
            <a:ext cx="9185226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Kami melakukan labeling secara manual untuk menentukan sentimen masyarakat terkait melemahnya nilai tukar rupiah terhadap dolar. 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Label </a:t>
            </a:r>
            <a:r>
              <a:rPr lang="en-US" b="true" sz="3000">
                <a:solidFill>
                  <a:srgbClr val="FF5757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0</a:t>
            </a:r>
            <a:r>
              <a:rPr lang="en-US" sz="30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untuk menandakan </a:t>
            </a:r>
            <a:r>
              <a:rPr lang="en-US" b="true" sz="3000">
                <a:solidFill>
                  <a:srgbClr val="FF5757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sentimen negatif</a:t>
            </a:r>
            <a:r>
              <a:rPr lang="en-US" sz="30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label </a:t>
            </a:r>
            <a:r>
              <a:rPr lang="en-US" b="true" sz="30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  <a:r>
              <a:rPr lang="en-US" sz="30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untuk menandakan </a:t>
            </a:r>
            <a:r>
              <a:rPr lang="en-US" b="true" sz="30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sentimen netral</a:t>
            </a:r>
            <a:r>
              <a:rPr lang="en-US" sz="30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dan label </a:t>
            </a:r>
            <a:r>
              <a:rPr lang="en-US" b="true" sz="3000">
                <a:solidFill>
                  <a:srgbClr val="0070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  <a:r>
              <a:rPr lang="en-US" sz="30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untuk menandakan </a:t>
            </a:r>
            <a:r>
              <a:rPr lang="en-US" b="true" sz="3000">
                <a:solidFill>
                  <a:srgbClr val="0070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sentimen positif</a:t>
            </a:r>
            <a:r>
              <a:rPr lang="en-US" sz="30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66800"/>
            <a:ext cx="12253161" cy="121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9"/>
              </a:lnSpc>
            </a:pPr>
            <a:r>
              <a:rPr lang="en-US" b="true" sz="8286" spc="-248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LABELING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2750" y="-1219935"/>
            <a:ext cx="6421610" cy="6589339"/>
          </a:xfrm>
          <a:custGeom>
            <a:avLst/>
            <a:gdLst/>
            <a:ahLst/>
            <a:cxnLst/>
            <a:rect r="r" b="b" t="t" l="l"/>
            <a:pathLst>
              <a:path h="6589339" w="6421610">
                <a:moveTo>
                  <a:pt x="0" y="0"/>
                </a:moveTo>
                <a:lnTo>
                  <a:pt x="6421610" y="0"/>
                </a:lnTo>
                <a:lnTo>
                  <a:pt x="6421610" y="6589339"/>
                </a:lnTo>
                <a:lnTo>
                  <a:pt x="0" y="6589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36997" y="4048743"/>
            <a:ext cx="8422303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Sentimen masyarakat Indonesia didominasi oleh komentar yang berupa pertanyaan atau pernyataan </a:t>
            </a:r>
            <a:r>
              <a:rPr lang="en-US" b="true" sz="3000">
                <a:solidFill>
                  <a:srgbClr val="0070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negatif</a:t>
            </a:r>
            <a:r>
              <a:rPr lang="en-US" sz="30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tentang Nilai Kurs Rupiah, sehingga jumlah sentimen negatif lebih banyak dibandingkan dengan sentimen netral dan sentimen positif.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7071524">
            <a:off x="-3391960" y="7671691"/>
            <a:ext cx="6421610" cy="6589339"/>
          </a:xfrm>
          <a:custGeom>
            <a:avLst/>
            <a:gdLst/>
            <a:ahLst/>
            <a:cxnLst/>
            <a:rect r="r" b="b" t="t" l="l"/>
            <a:pathLst>
              <a:path h="6589339" w="6421610">
                <a:moveTo>
                  <a:pt x="0" y="0"/>
                </a:moveTo>
                <a:lnTo>
                  <a:pt x="6421610" y="0"/>
                </a:lnTo>
                <a:lnTo>
                  <a:pt x="6421610" y="6589339"/>
                </a:lnTo>
                <a:lnTo>
                  <a:pt x="0" y="6589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3244671"/>
            <a:ext cx="7229197" cy="5554787"/>
          </a:xfrm>
          <a:custGeom>
            <a:avLst/>
            <a:gdLst/>
            <a:ahLst/>
            <a:cxnLst/>
            <a:rect r="r" b="b" t="t" l="l"/>
            <a:pathLst>
              <a:path h="5554787" w="7229197">
                <a:moveTo>
                  <a:pt x="0" y="0"/>
                </a:moveTo>
                <a:lnTo>
                  <a:pt x="7229197" y="0"/>
                </a:lnTo>
                <a:lnTo>
                  <a:pt x="7229197" y="5554787"/>
                </a:lnTo>
                <a:lnTo>
                  <a:pt x="0" y="5554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66800"/>
            <a:ext cx="12253161" cy="121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9"/>
              </a:lnSpc>
            </a:pPr>
            <a:r>
              <a:rPr lang="en-US" b="true" sz="8286" spc="-248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ANALISIS SENTIMEN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2750" y="-1219935"/>
            <a:ext cx="6421610" cy="6589339"/>
          </a:xfrm>
          <a:custGeom>
            <a:avLst/>
            <a:gdLst/>
            <a:ahLst/>
            <a:cxnLst/>
            <a:rect r="r" b="b" t="t" l="l"/>
            <a:pathLst>
              <a:path h="6589339" w="6421610">
                <a:moveTo>
                  <a:pt x="0" y="0"/>
                </a:moveTo>
                <a:lnTo>
                  <a:pt x="6421610" y="0"/>
                </a:lnTo>
                <a:lnTo>
                  <a:pt x="6421610" y="6589339"/>
                </a:lnTo>
                <a:lnTo>
                  <a:pt x="0" y="6589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071524">
            <a:off x="-3391960" y="7671691"/>
            <a:ext cx="6421610" cy="6589339"/>
          </a:xfrm>
          <a:custGeom>
            <a:avLst/>
            <a:gdLst/>
            <a:ahLst/>
            <a:cxnLst/>
            <a:rect r="r" b="b" t="t" l="l"/>
            <a:pathLst>
              <a:path h="6589339" w="6421610">
                <a:moveTo>
                  <a:pt x="0" y="0"/>
                </a:moveTo>
                <a:lnTo>
                  <a:pt x="6421610" y="0"/>
                </a:lnTo>
                <a:lnTo>
                  <a:pt x="6421610" y="6589339"/>
                </a:lnTo>
                <a:lnTo>
                  <a:pt x="0" y="6589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324557"/>
            <a:ext cx="6701915" cy="6933743"/>
          </a:xfrm>
          <a:custGeom>
            <a:avLst/>
            <a:gdLst/>
            <a:ahLst/>
            <a:cxnLst/>
            <a:rect r="r" b="b" t="t" l="l"/>
            <a:pathLst>
              <a:path h="6933743" w="6701915">
                <a:moveTo>
                  <a:pt x="0" y="0"/>
                </a:moveTo>
                <a:lnTo>
                  <a:pt x="6701915" y="0"/>
                </a:lnTo>
                <a:lnTo>
                  <a:pt x="6701915" y="6933743"/>
                </a:lnTo>
                <a:lnTo>
                  <a:pt x="0" y="6933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11906" y="2257882"/>
            <a:ext cx="8847394" cy="742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Kata Kunci Dominan:</a:t>
            </a:r>
          </a:p>
          <a:p>
            <a:pPr algn="just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Kata </a:t>
            </a:r>
            <a:r>
              <a:rPr lang="en-US" b="true" sz="28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"Indonesia"</a:t>
            </a: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menjadi pusat perhatian, menunjukkan bahwa masyarakat sangat fokus pada situasi di dalam negeri terkait isu yang dibahas (penurunan rupiah).</a:t>
            </a:r>
          </a:p>
          <a:p>
            <a:pPr algn="just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Kata </a:t>
            </a:r>
            <a:r>
              <a:rPr lang="en-US" b="true" sz="28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"stabil"</a:t>
            </a: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8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"rupiah"</a:t>
            </a: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8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"usd"</a:t>
            </a: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8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"dolar"</a:t>
            </a: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8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"dollar"</a:t>
            </a: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dan </a:t>
            </a:r>
            <a:r>
              <a:rPr lang="en-US" b="true" sz="28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"dunia"</a:t>
            </a: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menunjukkan ptimisme atau harapan masyarakat bahwa pemerintah dapat menjaga stabilitas ekonomi meskipun ada tantangan global.</a:t>
            </a:r>
          </a:p>
          <a:p>
            <a:pPr algn="just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Kehadiran kata </a:t>
            </a:r>
            <a:r>
              <a:rPr lang="en-US" b="true" sz="28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"Jokowi"</a:t>
            </a:r>
            <a:r>
              <a:rPr lang="en-US" sz="28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juga menunjukkan bahwa sebagian masyarakat percaya pada kepemimpinan Presiden Jokowi dalam menangani isu ekonomi, khususnya nilai tukar rupiah.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66800"/>
            <a:ext cx="16230600" cy="117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4"/>
              </a:lnSpc>
            </a:pPr>
            <a:r>
              <a:rPr lang="en-US" b="true" sz="7986" spc="-239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WORDCLOUD SENTIMEN POSITIF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92750" y="-1219935"/>
            <a:ext cx="6421610" cy="6589339"/>
          </a:xfrm>
          <a:custGeom>
            <a:avLst/>
            <a:gdLst/>
            <a:ahLst/>
            <a:cxnLst/>
            <a:rect r="r" b="b" t="t" l="l"/>
            <a:pathLst>
              <a:path h="6589339" w="6421610">
                <a:moveTo>
                  <a:pt x="0" y="0"/>
                </a:moveTo>
                <a:lnTo>
                  <a:pt x="6421610" y="0"/>
                </a:lnTo>
                <a:lnTo>
                  <a:pt x="6421610" y="6589339"/>
                </a:lnTo>
                <a:lnTo>
                  <a:pt x="0" y="6589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071524">
            <a:off x="-3391960" y="7671691"/>
            <a:ext cx="6421610" cy="6589339"/>
          </a:xfrm>
          <a:custGeom>
            <a:avLst/>
            <a:gdLst/>
            <a:ahLst/>
            <a:cxnLst/>
            <a:rect r="r" b="b" t="t" l="l"/>
            <a:pathLst>
              <a:path h="6589339" w="6421610">
                <a:moveTo>
                  <a:pt x="0" y="0"/>
                </a:moveTo>
                <a:lnTo>
                  <a:pt x="6421610" y="0"/>
                </a:lnTo>
                <a:lnTo>
                  <a:pt x="6421610" y="6589339"/>
                </a:lnTo>
                <a:lnTo>
                  <a:pt x="0" y="6589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324557"/>
            <a:ext cx="6701915" cy="6933743"/>
          </a:xfrm>
          <a:custGeom>
            <a:avLst/>
            <a:gdLst/>
            <a:ahLst/>
            <a:cxnLst/>
            <a:rect r="r" b="b" t="t" l="l"/>
            <a:pathLst>
              <a:path h="6933743" w="6701915">
                <a:moveTo>
                  <a:pt x="0" y="0"/>
                </a:moveTo>
                <a:lnTo>
                  <a:pt x="6701915" y="0"/>
                </a:lnTo>
                <a:lnTo>
                  <a:pt x="6701915" y="6933743"/>
                </a:lnTo>
                <a:lnTo>
                  <a:pt x="0" y="6933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16230600" cy="1174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4"/>
              </a:lnSpc>
            </a:pPr>
            <a:r>
              <a:rPr lang="en-US" b="true" sz="7986" spc="-239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WORDCLOUD SENTIMEN NEGATIF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93529" y="2184314"/>
            <a:ext cx="9265771" cy="700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Kata Kunci Dominan:</a:t>
            </a:r>
          </a:p>
          <a:p>
            <a:pPr algn="just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Kata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"rupiah"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"hancur"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"harga"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 "utang"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"sulit"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"beli"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"harga"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mencerminkan kekhawatiran masyarakat terhadap penurunan nilai tukar rupiah, tingginya harga barang, dan beban utang negara.</a:t>
            </a:r>
          </a:p>
          <a:p>
            <a:pPr algn="just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Kata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"kerja"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"phk"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"sulit"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menunjukkan Kekhawatiran terhadap pemutusan hubungan kerja (PHK) dan sulitnya mendapatkan pekerjaan menjadi isu yang sangat sensitif.</a:t>
            </a:r>
          </a:p>
          <a:p>
            <a:pPr algn="just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Kata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"jokowi"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"presiden"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"pilih"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"kuasa"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menunjukkan adanya kekecewaan dan kritik terhadap kebijakan atau kepemimpinan beliau, khususnya dalam mengelola isu ekonomi.</a:t>
            </a:r>
          </a:p>
          <a:p>
            <a:pPr algn="just" marL="539753" indent="-269876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Kata </a:t>
            </a:r>
            <a:r>
              <a:rPr lang="en-US" b="true" sz="2500">
                <a:solidFill>
                  <a:srgbClr val="4343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"korupsi"</a:t>
            </a:r>
            <a:r>
              <a:rPr lang="en-US" sz="2500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mencerminkan kurangnya kepercayaan masyarakat terhadap pemerintah atau lembaga negara. Isu ini masih sangat sensitif terutama ketika kondisi ekonomi sulit.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38228" y="3086100"/>
            <a:ext cx="3411543" cy="4114800"/>
          </a:xfrm>
          <a:custGeom>
            <a:avLst/>
            <a:gdLst/>
            <a:ahLst/>
            <a:cxnLst/>
            <a:rect r="r" b="b" t="t" l="l"/>
            <a:pathLst>
              <a:path h="4114800" w="3411543">
                <a:moveTo>
                  <a:pt x="0" y="0"/>
                </a:moveTo>
                <a:lnTo>
                  <a:pt x="3411544" y="0"/>
                </a:lnTo>
                <a:lnTo>
                  <a:pt x="34115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17531">
            <a:off x="12996988" y="4433005"/>
            <a:ext cx="6145949" cy="6641006"/>
          </a:xfrm>
          <a:custGeom>
            <a:avLst/>
            <a:gdLst/>
            <a:ahLst/>
            <a:cxnLst/>
            <a:rect r="r" b="b" t="t" l="l"/>
            <a:pathLst>
              <a:path h="6641006" w="6145949">
                <a:moveTo>
                  <a:pt x="0" y="0"/>
                </a:moveTo>
                <a:lnTo>
                  <a:pt x="6145949" y="0"/>
                </a:lnTo>
                <a:lnTo>
                  <a:pt x="6145949" y="6641007"/>
                </a:lnTo>
                <a:lnTo>
                  <a:pt x="0" y="66410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66800"/>
            <a:ext cx="10581229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b="true" sz="7800" spc="-234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ALGORITMA NAIVE BAYES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45030"/>
            <a:ext cx="1623060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Algoritma Naive Bayes digunakan untuk memprediksi atau mengklasifikasikan sesuatu berdasarkan data yang ada. Algoritma ini bekerja dengan menghitung kemungkinan (probabilitas).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030103" y="3703513"/>
            <a:ext cx="7229197" cy="5554787"/>
          </a:xfrm>
          <a:custGeom>
            <a:avLst/>
            <a:gdLst/>
            <a:ahLst/>
            <a:cxnLst/>
            <a:rect r="r" b="b" t="t" l="l"/>
            <a:pathLst>
              <a:path h="5554787" w="7229197">
                <a:moveTo>
                  <a:pt x="0" y="0"/>
                </a:moveTo>
                <a:lnTo>
                  <a:pt x="7229197" y="0"/>
                </a:lnTo>
                <a:lnTo>
                  <a:pt x="7229197" y="5554787"/>
                </a:lnTo>
                <a:lnTo>
                  <a:pt x="0" y="55547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890231"/>
            <a:ext cx="7346159" cy="312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Kami melakukan </a:t>
            </a:r>
            <a:r>
              <a:rPr lang="en-US" b="true" sz="2999">
                <a:solidFill>
                  <a:srgbClr val="0070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Oversampling</a:t>
            </a:r>
            <a:r>
              <a:rPr lang="en-US" sz="29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, agar semua sentimen bernilai sama, yaitu sebesar sentimen negatif karena sentimen tersebut paling besar. Hal ini mencegah adanya bias pada kelas tertentu terhadap model yang dilatih.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38228" y="3086100"/>
            <a:ext cx="3411543" cy="4114800"/>
          </a:xfrm>
          <a:custGeom>
            <a:avLst/>
            <a:gdLst/>
            <a:ahLst/>
            <a:cxnLst/>
            <a:rect r="r" b="b" t="t" l="l"/>
            <a:pathLst>
              <a:path h="4114800" w="3411543">
                <a:moveTo>
                  <a:pt x="0" y="0"/>
                </a:moveTo>
                <a:lnTo>
                  <a:pt x="3411544" y="0"/>
                </a:lnTo>
                <a:lnTo>
                  <a:pt x="341154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17531">
            <a:off x="12996988" y="4433005"/>
            <a:ext cx="6145949" cy="6641006"/>
          </a:xfrm>
          <a:custGeom>
            <a:avLst/>
            <a:gdLst/>
            <a:ahLst/>
            <a:cxnLst/>
            <a:rect r="r" b="b" t="t" l="l"/>
            <a:pathLst>
              <a:path h="6641006" w="6145949">
                <a:moveTo>
                  <a:pt x="0" y="0"/>
                </a:moveTo>
                <a:lnTo>
                  <a:pt x="6145949" y="0"/>
                </a:lnTo>
                <a:lnTo>
                  <a:pt x="6145949" y="6641007"/>
                </a:lnTo>
                <a:lnTo>
                  <a:pt x="0" y="66410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324282"/>
            <a:ext cx="7383206" cy="3657735"/>
          </a:xfrm>
          <a:custGeom>
            <a:avLst/>
            <a:gdLst/>
            <a:ahLst/>
            <a:cxnLst/>
            <a:rect r="r" b="b" t="t" l="l"/>
            <a:pathLst>
              <a:path h="3657735" w="7383206">
                <a:moveTo>
                  <a:pt x="0" y="0"/>
                </a:moveTo>
                <a:lnTo>
                  <a:pt x="7383206" y="0"/>
                </a:lnTo>
                <a:lnTo>
                  <a:pt x="7383206" y="3657735"/>
                </a:lnTo>
                <a:lnTo>
                  <a:pt x="0" y="36577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10581229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b="true" sz="7800" spc="-234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ALGORITMA NAIVE BAYES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990850"/>
            <a:ext cx="8115300" cy="626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Kami mendapatkan </a:t>
            </a:r>
            <a:r>
              <a:rPr lang="en-US" sz="2999" b="true">
                <a:solidFill>
                  <a:srgbClr val="0070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akurasi</a:t>
            </a:r>
            <a:r>
              <a:rPr lang="en-US" sz="29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model untuk analisis sekitar </a:t>
            </a:r>
            <a:r>
              <a:rPr lang="en-US" sz="2999" b="true">
                <a:solidFill>
                  <a:srgbClr val="0070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78.6%</a:t>
            </a:r>
            <a:r>
              <a:rPr lang="en-US" sz="29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70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Kelebihan</a:t>
            </a:r>
            <a:r>
              <a:rPr lang="en-US" sz="29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model ini adalah mampu mendeteksi sentimen positif dengan sangat baik dikarenakan nilai recall nya paling besar.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70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Kekurangan</a:t>
            </a:r>
            <a:r>
              <a:rPr lang="en-US" sz="29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 model ini adalah banyak melewatkan data komentar negatif dikarenakan nilai recall yang lebih kecil dibandingkan nilai recall sentimen lainnya.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88101" y="2807344"/>
            <a:ext cx="6397120" cy="5792301"/>
          </a:xfrm>
          <a:custGeom>
            <a:avLst/>
            <a:gdLst/>
            <a:ahLst/>
            <a:cxnLst/>
            <a:rect r="r" b="b" t="t" l="l"/>
            <a:pathLst>
              <a:path h="5792301" w="6397120">
                <a:moveTo>
                  <a:pt x="0" y="0"/>
                </a:moveTo>
                <a:lnTo>
                  <a:pt x="6397120" y="0"/>
                </a:lnTo>
                <a:lnTo>
                  <a:pt x="6397120" y="5792302"/>
                </a:lnTo>
                <a:lnTo>
                  <a:pt x="0" y="5792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94879" y="1427145"/>
            <a:ext cx="3031517" cy="1380199"/>
            <a:chOff x="0" y="0"/>
            <a:chExt cx="4042023" cy="1840266"/>
          </a:xfrm>
        </p:grpSpPr>
        <p:sp>
          <p:nvSpPr>
            <p:cNvPr name="Freeform 4" id="4"/>
            <p:cNvSpPr/>
            <p:nvPr/>
          </p:nvSpPr>
          <p:spPr>
            <a:xfrm flipH="true" flipV="true" rot="5400000">
              <a:off x="1646458" y="-555299"/>
              <a:ext cx="1840266" cy="2950864"/>
            </a:xfrm>
            <a:custGeom>
              <a:avLst/>
              <a:gdLst/>
              <a:ahLst/>
              <a:cxnLst/>
              <a:rect r="r" b="b" t="t" l="l"/>
              <a:pathLst>
                <a:path h="2950864" w="1840266">
                  <a:moveTo>
                    <a:pt x="1840266" y="2950864"/>
                  </a:moveTo>
                  <a:lnTo>
                    <a:pt x="0" y="2950864"/>
                  </a:lnTo>
                  <a:lnTo>
                    <a:pt x="0" y="0"/>
                  </a:lnTo>
                  <a:lnTo>
                    <a:pt x="1840266" y="0"/>
                  </a:lnTo>
                  <a:lnTo>
                    <a:pt x="1840266" y="2950864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true" rot="5400000">
              <a:off x="555299" y="-555299"/>
              <a:ext cx="1840266" cy="2950864"/>
            </a:xfrm>
            <a:custGeom>
              <a:avLst/>
              <a:gdLst/>
              <a:ahLst/>
              <a:cxnLst/>
              <a:rect r="r" b="b" t="t" l="l"/>
              <a:pathLst>
                <a:path h="2950864" w="1840266">
                  <a:moveTo>
                    <a:pt x="1840266" y="2950864"/>
                  </a:moveTo>
                  <a:lnTo>
                    <a:pt x="0" y="2950864"/>
                  </a:lnTo>
                  <a:lnTo>
                    <a:pt x="0" y="0"/>
                  </a:lnTo>
                  <a:lnTo>
                    <a:pt x="1840266" y="0"/>
                  </a:lnTo>
                  <a:lnTo>
                    <a:pt x="1840266" y="2950864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61604" y="1427145"/>
            <a:ext cx="3031517" cy="1380199"/>
            <a:chOff x="0" y="0"/>
            <a:chExt cx="4042023" cy="1840266"/>
          </a:xfrm>
        </p:grpSpPr>
        <p:sp>
          <p:nvSpPr>
            <p:cNvPr name="Freeform 7" id="7"/>
            <p:cNvSpPr/>
            <p:nvPr/>
          </p:nvSpPr>
          <p:spPr>
            <a:xfrm flipH="false" flipV="false" rot="5400000">
              <a:off x="1646458" y="-555299"/>
              <a:ext cx="1840266" cy="2950864"/>
            </a:xfrm>
            <a:custGeom>
              <a:avLst/>
              <a:gdLst/>
              <a:ahLst/>
              <a:cxnLst/>
              <a:rect r="r" b="b" t="t" l="l"/>
              <a:pathLst>
                <a:path h="2950864" w="1840266">
                  <a:moveTo>
                    <a:pt x="0" y="0"/>
                  </a:moveTo>
                  <a:lnTo>
                    <a:pt x="1840266" y="0"/>
                  </a:lnTo>
                  <a:lnTo>
                    <a:pt x="1840266" y="2950864"/>
                  </a:lnTo>
                  <a:lnTo>
                    <a:pt x="0" y="2950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5400000">
              <a:off x="555299" y="-555299"/>
              <a:ext cx="1840266" cy="2950864"/>
            </a:xfrm>
            <a:custGeom>
              <a:avLst/>
              <a:gdLst/>
              <a:ahLst/>
              <a:cxnLst/>
              <a:rect r="r" b="b" t="t" l="l"/>
              <a:pathLst>
                <a:path h="2950864" w="1840266">
                  <a:moveTo>
                    <a:pt x="0" y="0"/>
                  </a:moveTo>
                  <a:lnTo>
                    <a:pt x="1840266" y="0"/>
                  </a:lnTo>
                  <a:lnTo>
                    <a:pt x="1840266" y="2950864"/>
                  </a:lnTo>
                  <a:lnTo>
                    <a:pt x="0" y="2950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70049" y="1563916"/>
            <a:ext cx="6747903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69"/>
              </a:lnSpc>
            </a:pPr>
            <a:r>
              <a:rPr lang="en-US" b="true" sz="7800" spc="-234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REKOMENDASI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981325"/>
            <a:ext cx="7857961" cy="593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70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Rekomendasi untuk Pemerintah: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Pemerintah dapat mendorong penciptaan lapangan kerja melalui insentif kepada sektor UMKM dan agrikultur.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Pemerintah juga dapat memberikan dana atau modal usaha bagi mereka yang ingin  melakukan ekspor.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Pemerintah dapat memberikan penjelasan yang transparan dan sederhana tentang langkah pemerintah menangani ekonomi, sehingga masyarakat bisa lebih bijak dan tidak termakan berita palsu.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2981325"/>
            <a:ext cx="8115300" cy="643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7043">
                    <a:alpha val="9568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Rekomendasi untuk Masyarakat: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Masyarakat dapat secara aktif memberikan masukan kepada pemerintah melalui forum atau kanal resmi.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Dengan adanya penurunan nilai rupiah terhadap dolar masyarakat dapat  memperkuat daya tahan ekonomi rumah tangga dengan pengelolaan keuangan yang bijak, seperti penghematan dan investasi sederhana.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434343">
                    <a:alpha val="95686"/>
                  </a:srgbClr>
                </a:solidFill>
                <a:latin typeface="Inter"/>
                <a:ea typeface="Inter"/>
                <a:cs typeface="Inter"/>
                <a:sym typeface="Inter"/>
              </a:rPr>
              <a:t>Masyarakat juga dapat mendukung  UMKM lokal agar membantu memperkuat ekonomi mikro di tengah situasi sulit.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73558" y="-2193568"/>
            <a:ext cx="10736436" cy="9077169"/>
          </a:xfrm>
          <a:custGeom>
            <a:avLst/>
            <a:gdLst/>
            <a:ahLst/>
            <a:cxnLst/>
            <a:rect r="r" b="b" t="t" l="l"/>
            <a:pathLst>
              <a:path h="9077169" w="10736436">
                <a:moveTo>
                  <a:pt x="0" y="0"/>
                </a:moveTo>
                <a:lnTo>
                  <a:pt x="10736436" y="0"/>
                </a:lnTo>
                <a:lnTo>
                  <a:pt x="10736436" y="9077169"/>
                </a:lnTo>
                <a:lnTo>
                  <a:pt x="0" y="9077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97979">
            <a:off x="10726790" y="3842371"/>
            <a:ext cx="9361951" cy="8476821"/>
          </a:xfrm>
          <a:custGeom>
            <a:avLst/>
            <a:gdLst/>
            <a:ahLst/>
            <a:cxnLst/>
            <a:rect r="r" b="b" t="t" l="l"/>
            <a:pathLst>
              <a:path h="8476821" w="9361951">
                <a:moveTo>
                  <a:pt x="0" y="0"/>
                </a:moveTo>
                <a:lnTo>
                  <a:pt x="9361951" y="0"/>
                </a:lnTo>
                <a:lnTo>
                  <a:pt x="9361951" y="8476821"/>
                </a:lnTo>
                <a:lnTo>
                  <a:pt x="0" y="8476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42316" y="2701664"/>
            <a:ext cx="8403368" cy="4959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2"/>
              </a:lnSpc>
            </a:pPr>
            <a:r>
              <a:rPr lang="en-US" b="true" sz="17045" spc="-323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TERIMA</a:t>
            </a:r>
          </a:p>
          <a:p>
            <a:pPr algn="ctr">
              <a:lnSpc>
                <a:spcPts val="19602"/>
              </a:lnSpc>
            </a:pPr>
            <a:r>
              <a:rPr lang="en-US" b="true" sz="17045" spc="-323">
                <a:solidFill>
                  <a:srgbClr val="007043"/>
                </a:solidFill>
                <a:latin typeface="Anantason Condensed Bold"/>
                <a:ea typeface="Anantason Condensed Bold"/>
                <a:cs typeface="Anantason Condensed Bold"/>
                <a:sym typeface="Anantason Condensed Bold"/>
              </a:rPr>
              <a:t>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DAGZ4hB_LiE</dc:identifier>
  <dcterms:modified xsi:type="dcterms:W3CDTF">2011-08-01T06:04:30Z</dcterms:modified>
  <cp:revision>1</cp:revision>
  <dc:title>Analisis sentimen masyarakat terhadap</dc:title>
</cp:coreProperties>
</file>